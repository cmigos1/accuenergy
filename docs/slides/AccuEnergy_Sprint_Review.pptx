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Feito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[=0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DC-4909-8EC6-BBD40FF493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Pendente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[=0]&quot;&quot;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DC-4909-8EC6-BBD40FF493D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51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Título
Boa tarde. Esta é a apresentação de Sprint Review do AccuEnergy, nosso sistema de monitoramento não intrusivo de cargas bifásico. Vou percorrer as quatro sprints planejadas, mostrar o que foi entregue, o que ainda está pendente e — principalmente — por que cada pendência ainda não foi resolvida, já que há uma cadeia de dependências clara entre as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Sumário
Quatro blocos: primeiro o roadmap geral das quatro sprints. Segundo, o que já foi concluído nas Sprints 1 e 2 — hardware e pipeline de dados. Terceiro, o que está em andamento na Sprint 3 — a curadoria do dataset e o início da modelagem. E quarto, o que está planejado para a Sprint 4 — inferência, validação final e o artigo, mais os pontos de atenção que identificamos na própria gestão do planejamento.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Roadmap Geral
Quatro sprints, cada uma com foco diferente. Sprint 1, abril, validação de hardware — 100% concluída, 12 itens. Sprint 2, maio, pipeline de dados — também 100% concluída, 8 itens. Sprint 3, junho — é onde estamos agora — dataset e modelagem: 7 itens feitos, 5 pendentes. Sprint 4, outubro, inferência e artigo: só 1 item feito, 7 pendentes, porque depende diretamente do que a Sprint 3 ainda vai entregar. O gráfico mostra visualmente essa progressão — as duas primeiras sprints são barras sólidas verdes, a partir da Sprint 3 aparece a fração pendente em laranja.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Sprint 1: Validação de Hardware
Sprint 1, totalmente concluída. Quatro destaques. Primeiro, o diagnóstico de ruído: descobrimos que parte do ruído que víamos no osciloscópio era um artefato de ground loop da própria medição, não do circuito — boa notícia, o hardware era mais limpo do que parecia. Segundo, a migração para STM32H743: o ESP32 sozinho não conseguia manter temporização estável por software; resolvemos isso delegando a amostragem para temporizador de hardware com DMA. Terceiro, o ZMPT101B em modo standalone: a defasagem caiu de 29,5 graus para 0,4 graus comparado ao módulo comercial — validamos isso contra um artigo da Sensors/MDPI. Quarto, um bug crítico que encontramos: acima de 177 volts, o buffer de 16 bits dava overflow e distorcia a onda. Migrar para 32 bits resolveu.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Sprint 2: Pipeline de Dados
Sprint 2, também totalmente concluída. O pipeline completo de dados, ponta a ponta, em cinco etapas. O STM32H743 adquire os sinais e monta frames binários bifásicos a 460 mil 800 baud. O ESP32-Bridge faz só a ponte UART para USB, sem processar nada — decisão deliberada para manter a lógica de negócio centralizada. O ESP32-Network faz o parsing e publica via MQTT com TLS para o HiveMQ Cloud, com timestamp sincronizado por NTP. No backend Python, o mqtt_ingest.py grava em CSV e depois convertemos para HDF5 no formato NILMTK. E por fim, um monitor em tempo real com PyQt5 para acompanhar tudo visualmente. Como adicional, o sistema também persiste o consumo acumulado localmente, então não perdemos dados em caso de queda de energia.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Sprint 3, Parte 1: Curadoria de Dataset — O que foi feito
Aqui está uma evolução importante em relação à apresentação anterior. Da última vez, discutimos que a coleta era passiva, sem qualquer controle sobre as cargas — isso impedia treinar classificadores supervisionados com integridade. Nesta sprint, implementamos exatamente o protocolo que tínhamos apontado como próximo passo: ligamos e desligamos cada aparelho trinta vezes isoladamente, depois repetimos com carga de fundo para generalização, e gravamos uma noite inteira só com a geladeira, que se rotula automaticamente pelo ciclo do compressor. Cada evento manual tem timestamp sincronizado ao MQTT — isso é ground truth confiável. Também corrigimos um erro de calibração do sensor de corrente e extraímos um vetor de cerca de 110 características por evento, incluindo até a quinquagésima harmônica.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Sprint 3, Parte 2: O que falta e por quê
Esta é a cadeia de dependências que explica por que cinco itens ainda estão pendentes. Coleta e </a:t>
            </a:r>
            <a:r>
              <a:rPr lang="en-US" dirty="0" err="1"/>
              <a:t>rotulagem</a:t>
            </a:r>
            <a:r>
              <a:rPr lang="en-US" dirty="0"/>
              <a:t> já estão prontas — resolvidas na parte anterior. Mas limpeza, split e treino formam uma corrente sequencial: não dá para treinar antes de fazer o split corretamente, e não dá para fazer o split antes de limpar o dataset. Este é exatamente o exemplo que vocês pediram: por que não treinamos o modelo rotulado ainda? Porque treinar antes da limpeza e do split geraria métricas de acurácia inválidas — não é uma questão de prioridade, é uma dependência técnica real. Em paralelo, a caracterização de ENOB do ADC depende de uma sessão de bancada com gerador de sinal, que ainda não foi reagendada.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Status Consolidado e Próximos Passos
No total, vinte e oito de quarenta itens planejados estão concluídos — setenta por cento. As Sprints 1 e 2 estão cem por cento prontas. A Sprint 3 está na metade, em andamento. A Sprint 4 depende inteiramente do que a Sprint 3 ainda vai entregar. Os próximos passos seguem exatamente a ordem de dependência que vimos: primeiro limpar o dataset, depois separar treino e teste, depois treinar o modelo, caracterizar o ADC, integrar a inferência, validar com instrumentos de referência, e só então escrever as seções finais do artigo e publicar o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Encerramento
Para resumir: hardware e pipeline estão sólidos e validados. A curadoria do dataset rotulado, que era nossa principal lacuna, foi resolvida nesta sprint. O que falta segue uma cadeia de dependências clara e justificável, não uma falta de planejamento. Obrigado —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b="1" kern="0" spc="200" noProof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II ·  SPRINT REVIEW</a:t>
            </a:r>
            <a:endParaRPr lang="pt-BR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44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AccuEnergy</a:t>
            </a:r>
            <a:endParaRPr lang="pt-BR" sz="44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000" noProof="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NILM de Baixo Custo</a:t>
            </a:r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a 3  ·  Da validação de hardware a medição precisa</a:t>
            </a:r>
            <a:endParaRPr lang="pt-B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Miguel Oliveira de Moraes e Silva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69080" cy="1554480"/>
          </a:xfrm>
          <a:prstGeom prst="roundRect">
            <a:avLst>
              <a:gd name="adj" fmla="val 7647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58368" y="13624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1399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Geral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508760" y="180136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das 3 sprints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consolidado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4069080" cy="1554480"/>
          </a:xfrm>
          <a:prstGeom prst="roundRect">
            <a:avLst>
              <a:gd name="adj" fmla="val 7647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01768" y="13624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852160" y="1399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(Sprints 1-2)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852160" y="180136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hardware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ponta a ponta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013299"/>
            <a:ext cx="4069080" cy="1554480"/>
          </a:xfrm>
          <a:prstGeom prst="roundRect">
            <a:avLst>
              <a:gd name="adj" fmla="val 7647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852928" y="3141315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03320" y="3177891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 (Sprint 3)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03320" y="3580227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dataset rotulado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e por quê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Geral — 3 Sprints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057400" cy="1965960"/>
          </a:xfrm>
          <a:prstGeom prst="roundRect">
            <a:avLst>
              <a:gd name="adj" fmla="val 5581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84048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984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1344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Abr/2026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2359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feitos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0 pendentes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89554" y="914400"/>
            <a:ext cx="2057400" cy="1965960"/>
          </a:xfrm>
          <a:prstGeom prst="roundRect">
            <a:avLst>
              <a:gd name="adj" fmla="val 5581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399282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282" y="12984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9906" y="1344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Mai/2026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99282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99282" y="2359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feitos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0 pendentes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4788" y="914400"/>
            <a:ext cx="2057400" cy="1965960"/>
          </a:xfrm>
          <a:prstGeom prst="roundRect">
            <a:avLst>
              <a:gd name="adj" fmla="val 5581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6414516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12984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5140" y="1344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Jun/2026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14516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14516" y="2359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feitos</a:t>
            </a: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 pendentes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333488" y="13441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3063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por sprint — Feito vs. Pendente</a:t>
            </a:r>
            <a:endParaRPr lang="en-US" sz="1200" dirty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2748911404"/>
              </p:ext>
            </p:extLst>
          </p:nvPr>
        </p:nvGraphicFramePr>
        <p:xfrm>
          <a:off x="365760" y="3364992"/>
          <a:ext cx="841248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— Validação de Hardware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040880" y="29260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040880" y="2926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12/12 concluído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Ruído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loop do osciloscópio identificado: ruído real diferente do artefato de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Hardware estava mais limpo do que parecia.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73152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92040" y="10241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para STM32H743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sozinho gerava jitter por software. Decisão: temporização via hardware (TIM2@15360Hz + DMA bifásico) elimina a instabilidade na origem.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859258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560320" y="2859258"/>
            <a:ext cx="7315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788920" y="296898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ZMPT101B Standalone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88920" y="338961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de 0,4° contra 29,5° do módulo comercial, com THD&lt;2%. Validado contra artigo Sensors/MDPI sobre distorção em isolamento galvânico.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— Pipeline de Dados Ponta a Ponta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223760" y="29260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223760" y="292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8/8 concluído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76656" y="9326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481328"/>
            <a:ext cx="1664208" cy="2606040"/>
          </a:xfrm>
          <a:prstGeom prst="roundRect">
            <a:avLst>
              <a:gd name="adj" fmla="val 5495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9184" y="155448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Aquisição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9184" y="18288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STM32H743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12140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binários bifásicos via LPUART1 a 460 800 baud (potência + harmônicas H1-H50).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38528" y="2743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432304" y="9326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432304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011680" y="1481328"/>
            <a:ext cx="1664208" cy="2606040"/>
          </a:xfrm>
          <a:prstGeom prst="roundRect">
            <a:avLst>
              <a:gd name="adj" fmla="val 5495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084832" y="155448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84832" y="18288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ESP32-Bridge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212140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UART↔USB transparente, byte-a-byte, sem lógica de negócio — buffers de ~1,9 KB/janela.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94176" y="2743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187952" y="9326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87952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67328" y="1481328"/>
            <a:ext cx="1664208" cy="2606040"/>
          </a:xfrm>
          <a:prstGeom prst="roundRect">
            <a:avLst>
              <a:gd name="adj" fmla="val 5495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840480" y="155448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18288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ESP32-Network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58768" y="212140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de frames, publicação MQTT TLS para HiveMQ Cloud, timestamp via NTP.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9824" y="2743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943600" y="9326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94360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522976" y="1481328"/>
            <a:ext cx="1664208" cy="2606040"/>
          </a:xfrm>
          <a:prstGeom prst="roundRect">
            <a:avLst>
              <a:gd name="adj" fmla="val 5495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596128" y="155448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596128" y="18288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14416" y="212140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mqtt_ingest.py → CSV sequencial → csv_to_hdf5.py → HDF5/NILMTK.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05472" y="2743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7699248" y="9326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699248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278624" y="1481328"/>
            <a:ext cx="1664208" cy="2606040"/>
          </a:xfrm>
          <a:prstGeom prst="roundRect">
            <a:avLst>
              <a:gd name="adj" fmla="val 5495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351776" y="155448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51776" y="1828800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70064" y="2121408"/>
            <a:ext cx="14813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cards/fase, plots V/I bifásicos, harmônicos H1-H50, gravação por segmento.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02920" y="42519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Persistência local: kWh acumulado em LittleFS (/kwh.bin), salvo a cada 60s — sobrevive a quedas de energia.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— Curadoria de Dataset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903720" y="29260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903720" y="2926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 que foi feito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em relação à apresentação anterior: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a coleta era passiva e sem controle (sem ground truth). Esta sprint implementou um protocolo controlado — resolvendo a barreira identificada anteriormente para treinar modelos supervisionados.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4708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810512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coleta — assinaturas puras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2121408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Liga/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30×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isoladamente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30s,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cargas de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04672" y="2834640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04672" y="3145536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175564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84708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02352" y="1810512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 sincronizada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102352" y="2121408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UTC de cada evento manual em log físico, sincronizado ao frame MQTT — ground truth confiável.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11480" y="318211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27355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0392" y="323697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de erro do sensor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50392" y="3547872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 de correção de ganho por faixa de corrente (dados OpenEnergyMonitor): erro de 0,8–2,0% entre 0,5–10A.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663440" y="318211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273552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02352" y="323697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features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102352" y="3547872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features por evento: ΔP/ΔQ/ΔS/ΔFP/ΔTHD + ΔH1-H50 (V e I), mais razões harmônicas invariantes à amplitude.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— O que Falta e Por Quê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040880" y="29260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040880" y="2926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pendentes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dependência sequencial — cada etapa bloqueia a próxima: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7824" y="120700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325880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874520"/>
            <a:ext cx="1682496" cy="868680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20040" y="187452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75104" y="148132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633472" y="120700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1325880"/>
            <a:ext cx="310896" cy="310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730752" y="148132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4389120" y="120700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325880"/>
            <a:ext cx="310896" cy="31089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803904" y="1865376"/>
            <a:ext cx="1682496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4"/>
          <p:cNvSpPr/>
          <p:nvPr/>
        </p:nvSpPr>
        <p:spPr>
          <a:xfrm>
            <a:off x="3831336" y="187452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(US19)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0" y="148132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6144768" y="120700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541264" y="1874520"/>
            <a:ext cx="1682496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18"/>
          <p:cNvSpPr/>
          <p:nvPr/>
        </p:nvSpPr>
        <p:spPr>
          <a:xfrm>
            <a:off x="5586984" y="187452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Treino/Teste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(US20)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242048" y="1481328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7900416" y="120700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1325880"/>
            <a:ext cx="310896" cy="310896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296912" y="1874520"/>
            <a:ext cx="1682496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2"/>
          <p:cNvSpPr/>
          <p:nvPr/>
        </p:nvSpPr>
        <p:spPr>
          <a:xfrm>
            <a:off x="7342632" y="1874520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RF/XGBoost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(US21)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74320" y="2907792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4"/>
          <p:cNvSpPr/>
          <p:nvPr/>
        </p:nvSpPr>
        <p:spPr>
          <a:xfrm>
            <a:off x="411480" y="29718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US19 — Limpeza do dataset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11480" y="325526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ter todo o dataset coletado (concluído) para então inspecionar sessões e descartar eventos de ΔP&lt;15W não identificáveis. Análise é intensiva em tempo.</a:t>
            </a:r>
            <a:endParaRPr lang="en-US" sz="930" dirty="0"/>
          </a:p>
        </p:txBody>
      </p:sp>
      <p:sp>
        <p:nvSpPr>
          <p:cNvPr id="33" name="Shape 26"/>
          <p:cNvSpPr/>
          <p:nvPr/>
        </p:nvSpPr>
        <p:spPr>
          <a:xfrm>
            <a:off x="4617720" y="2907792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/>
          <p:nvPr/>
        </p:nvSpPr>
        <p:spPr>
          <a:xfrm>
            <a:off x="4754880" y="29718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 — Split temporal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754880" y="3255264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diretamente da limpeza (US19). Fazer o split antes contaminaria treino e teste com o mesmo ruído.</a:t>
            </a:r>
            <a:endParaRPr lang="en-US" sz="930" dirty="0"/>
          </a:p>
        </p:txBody>
      </p:sp>
      <p:sp>
        <p:nvSpPr>
          <p:cNvPr id="36" name="Shape 29"/>
          <p:cNvSpPr/>
          <p:nvPr/>
        </p:nvSpPr>
        <p:spPr>
          <a:xfrm>
            <a:off x="2427732" y="3941064"/>
            <a:ext cx="416052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30"/>
          <p:cNvSpPr/>
          <p:nvPr/>
        </p:nvSpPr>
        <p:spPr>
          <a:xfrm>
            <a:off x="2564892" y="40050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US21 — Treinar Random Forest/XGBoost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2564892" y="4288536"/>
            <a:ext cx="3886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do split (US20) existir. Treinar 'modelo rotulado' antes disso geraria métricas de acurácia inválidas — não é uma opção, é uma dependência sequencial.</a:t>
            </a:r>
            <a:endParaRPr lang="en-US" sz="930" dirty="0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10E817A4-8432-C77B-6DCC-FBA8A7FF8A0B}"/>
              </a:ext>
            </a:extLst>
          </p:cNvPr>
          <p:cNvSpPr/>
          <p:nvPr/>
        </p:nvSpPr>
        <p:spPr>
          <a:xfrm>
            <a:off x="2633472" y="120700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D34112AE-8866-D16B-4158-E28599A3A7B0}"/>
              </a:ext>
            </a:extLst>
          </p:cNvPr>
          <p:cNvSpPr/>
          <p:nvPr/>
        </p:nvSpPr>
        <p:spPr>
          <a:xfrm>
            <a:off x="2029968" y="1899959"/>
            <a:ext cx="1682496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2424E145-7F57-1D6E-4B20-A722A38A7880}"/>
              </a:ext>
            </a:extLst>
          </p:cNvPr>
          <p:cNvSpPr/>
          <p:nvPr/>
        </p:nvSpPr>
        <p:spPr>
          <a:xfrm>
            <a:off x="2061972" y="1899959"/>
            <a:ext cx="15910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926080"/>
            <a:ext cx="3840480" cy="384048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Consolidado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40 itens concluídos  ·  70% do planejado total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e 2 — 100% concluídas (20/20)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58% </a:t>
            </a:r>
            <a:r>
              <a:rPr lang="en-US" sz="1250" dirty="0" err="1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250" dirty="0">
              <a:solidFill>
                <a:srgbClr val="C8DF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54864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Ordem de Execução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90779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limpeza do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5010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15010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split temporal treino/teste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92424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" y="339242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Random Forest / </a:t>
            </a:r>
            <a:r>
              <a:rPr lang="en-US" sz="1050" dirty="0" err="1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34740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363474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ENOB do ADC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877056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6112" y="387705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inferência </a:t>
            </a:r>
            <a:r>
              <a:rPr lang="en-US" sz="1050" dirty="0" err="1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</a:t>
            </a: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119372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6112" y="411937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</a:t>
            </a: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Harmônicas</a:t>
            </a: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10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36168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" y="434375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604004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b="1" dirty="0">
              <a:solidFill>
                <a:srgbClr val="0891B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460400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sugestões são bem-vindas.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1811</Words>
  <Application>Microsoft Office PowerPoint</Application>
  <PresentationFormat>Apresentação na tela 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AccuEnergy — Sprint Review</dc:title>
  <dc:subject>PptxGenJS Presentation</dc:subject>
  <dc:creator>PptxGenJS</dc:creator>
  <cp:lastModifiedBy>Carlos Miguel</cp:lastModifiedBy>
  <cp:revision>7</cp:revision>
  <dcterms:created xsi:type="dcterms:W3CDTF">2026-06-23T13:15:01Z</dcterms:created>
  <dcterms:modified xsi:type="dcterms:W3CDTF">2026-06-23T21:52:54Z</dcterms:modified>
</cp:coreProperties>
</file>