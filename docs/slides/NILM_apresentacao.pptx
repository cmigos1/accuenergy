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Potência (W)</c:v>
                </c:pt>
              </c:strCache>
            </c:strRef>
          </c:tx>
          <c:spPr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1s</c:v>
                </c:pt>
                <c:pt idx="2">
                  <c:v>2s</c:v>
                </c:pt>
                <c:pt idx="3">
                  <c:v>3s</c:v>
                </c:pt>
                <c:pt idx="4">
                  <c:v>liga!</c:v>
                </c:pt>
                <c:pt idx="5">
                  <c:v>5s</c:v>
                </c:pt>
                <c:pt idx="6">
                  <c:v>6s</c:v>
                </c:pt>
                <c:pt idx="7">
                  <c:v>7s</c:v>
                </c:pt>
                <c:pt idx="8">
                  <c:v>8s</c:v>
                </c:pt>
                <c:pt idx="9">
                  <c:v>9s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250</c:v>
                </c:pt>
                <c:pt idx="1">
                  <c:v>250</c:v>
                </c:pt>
                <c:pt idx="2">
                  <c:v>250</c:v>
                </c:pt>
                <c:pt idx="3">
                  <c:v>250</c:v>
                </c:pt>
                <c:pt idx="4">
                  <c:v>1750</c:v>
                </c:pt>
                <c:pt idx="5">
                  <c:v>1750</c:v>
                </c:pt>
                <c:pt idx="6">
                  <c:v>1750</c:v>
                </c:pt>
                <c:pt idx="7">
                  <c:v>1750</c:v>
                </c:pt>
                <c:pt idx="8">
                  <c:v>1750</c:v>
                </c:pt>
                <c:pt idx="9">
                  <c:v>1750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90-4854-A3CB-384BD1FFF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BE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Silhueta (K=9)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22-4957-B116-3F23D0F5EC44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22-4957-B116-3F23D0F5EC44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22-4957-B116-3F23D0F5EC44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ΔP/ΔQ
(base)</c:v>
                </c:pt>
                <c:pt idx="1">
                  <c:v>+Δharmônico
(real)</c:v>
                </c:pt>
                <c:pt idx="2">
                  <c:v>+Δharmônico
(embaralhado)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0.42699999999999999</c:v>
                </c:pt>
                <c:pt idx="1">
                  <c:v>0.13900000000000001</c:v>
                </c:pt>
                <c:pt idx="2">
                  <c:v>0.122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22-4957-B116-3F23D0F5EC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4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Título
Bom dia. Vou apresentar o trabalho desenvolvido na matéria de Projetos de Sistemas Inteligentes. O projeto é um sistema de Monitoramento Não Intrusivo de Cargas — o NILM — implementado com hardware embarcado de baixo custo. A pergunta motivadora: conseguimos inferir o consumo de aparelhos individuais em uma residência real sem colocar sensores em cada equipamento, e sem controlar o que foi ligado durante a coleta? É isso que o trabalho investiga.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Sumário
A apresentação está organizada em quatro blocos. Primeiro, a motivação: o problema que o NILM resolve, o que o sistema efetivamente mede e a pergunta de pesquisa que orienta o projeto. Segundo, a arquitetura: como o sistema é construído, do hardware embarcado ao pipeline de inteligência artificial. Terceiro, os resultados: os dois achados centrais do trabalho. E por fim, a síntese: o que aprendemos e os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O Problema
O monitoramento intrusivo de cargas — o ILM — exige um sensor para cada equipamento: caro e impraticável. O NILM resolve isso com um único ponto de medição e algoritmos de IA. O desafio aqui é fazer isso com hardware barato o suficiente para uma implantação real, sem depender de equipamentos de laboratório.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Contextualização: O que o sistema mede?
Para quem não é da área elétrica, três conceitos rápidos que explicam tudo que vem depois.
Primeiro: o sensor único. Em vez de um sensor por aparelho, temos um único par de sensores no ramal de entrada. Ele mede a corrente e a tensão da instalação inteira ao mesmo tempo. Quando o ferro liga, esse sinal muda. Quando o ar-condicionado comprime, ele muda também. Tudo em uma medição só.
Segundo: o evento. Quando um aparelho liga ou desliga, a potência total da instalação sobe ou desce em degrau — de 250 W para 1750 W, por exemplo. Esse degrau é o 'evento'. ΔP é quanto subiu a potência ativa; ΔQ é quanto subiu a potência reativa.
Terceiro: o plano ΔP × ΔQ. Cada tipo de aparelho tem uma 'assinatura' diferente nesse plano. Um ferro elétrico ou chuveiro é puramente resistivo: sobe muito em ΔP e quase nada em ΔQ — fica no canto direito baixo. Um motor tem componente reativa alta: fica no meio, acima. Um inverter ou LED fica perto da origem. É essa posição diferente que o K-means usa para identificar grupos — e é por isso que ΔP e ΔQ juntos são mais informativos que só um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Pergunta de Pesquisa
Essa é a pergunta que orienta todo o trabalho. A coleta foi feita de forma passiva e contínua: ninguém anotou o que foi ligado. Isso é a realidade do NILM em campo — e é exatamente o que torna necessário o uso de métodos não supervisionados. Não há rótulos externos. Só as métricas internas de qualidade do agrupamento.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Arquitetura
O sistema tem duas camadas. Na borda, um nó embarcado coleta os sinais elétricos e calcula as características localmente. No servidor, o pipeline de IA faz a desagregação. Essa divisão é fundamental: transmitir as ondas brutas em alta frequência pela rede seria inviável em termos de banda. Ao calcular ΔP, ΔQ e harmônicos na borda, reduzimos de megabytes para kilobytes por segundo.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Nó de Borda
A decisão mais importante de engenharia foi separar as responsabilidades entre dois microcontroladores. O ESP32 sozinho não consegue amostrar a 5 kHz e manter o Wi-Fi ativo: o módulo de rádio provoca jitter e o watchdog interrompe a amostragem. A solução foi dedicar o STM32H743 à aquisição — ele tem ADC de 16 bits e DSP dedicado, sem interferência de rádio — e deixar o ESP32 exclusivamente para comunicação. Para o sensoriamento de tensão, abandonamos o módulo comercial do ZMPT101B porque ele distorcia o sinal harmônico, que é crucial para o nosso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Pipeline de IA
O pipeline tem quatro etapas. Etapa 1: detectamos eventos com o princípio de Hart — qualquer degrau de potência acima de 50 W sustentado é registrado. Etapa 2: extraímos ΔP e ΔQ de cada evento, e opcionalmente os harmônicos. Etapa 3: K-means agrupa os eventos no plano ΔP×ΔQ, com K escolhido automaticamente pela silhueta — sem precisar saber quantos aparelhos existem. Etapa 4: interpretamos cada cluster por plausibilidade física. Não temos rótulos externos, então um cluster com 2,3 kW e alto ΔQ é interpretado como compressor. Grupos ambíguos ficam como desconhecidos.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Resultado 1: Diluição
O scatter plot mostra o que acontece. Com um dia, o K-means encontra dez grupos — parece rico. Mas a silhueta é de apenas 0,44, indicando sobre-segmentação. Com dois dias, o K ótimo colapsa para três. O mecanismo é a diluição: 85% dos eventos são de baixa potência — do compressor inverter do refrigerador, que não liga nem desliga, apenas modula a velocidade, mais ruído de medição. Conforme eles se acumulam, dominam o espaço e o agrupamento fica grosseiro. Só as cargas de alta potência — o motor de 2,3 kW e as resistivas — permanecem separáveis de forma estável.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Resultado 2: Teste de Nulidade
O segundo resultado é o mais interessante metodologicamente. A arquitetura captura harmônicos com alta fidelidade — é um diferencial técnico do sistema. A hipótese natural é que usar harmônicos melhoraria a desagregação. Para testar isso de forma rigorosa, aplicamos um teste de nulidade por permutação: comparamos a silhueta com dados harmônicos reais versus os mesmos dados embaralhados — o embaralhamento quebra qualquer vínculo real. Se os harmônicos fossem discriminativos, os dados reais superariam os embaralhados. O resultado: real igual a 0,139, embaralhado igual a 0,122. Estatisticamente idênticos. Mais ainda: acrescentar harmônicos degradou a silhueta de 0,43 para 0,14 em relação à base. Isso é um resultado negativo bem fundamentado — e tem valor científico, porque aponta onde está o limite do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O que Aprendemos
Três lições. Primeira: hardware barato funciona, mas exige engenharia cuidadosa — não basta comprar um ESP32 e sair medindo. Segunda: K-means tem um limite natural dado pela presença de eventos de baixa potência. Não vamos discriminar todos os aparelhos sem filtrar esse ruído. Terceira e mais importante para a matéria: a ausência de controle da coleta é a barreira real para sistemas inteligentes supervisionados. Essa é a condição real do NILM em campo — e é o que motiva o próximo passo.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Conclusões e Próximos Passos
Para resumir: propomos e avaliamos uma arquitetura NILM de baixo custo em ambiente residencial real sem controle das cargas. O K-means funciona mas tem limites claros e documentados. Os harmônicos, apesar da aquisição de alta fidelidade, não ajudam no agrupamento neste cenário — resultado negativo bem fundamentado com teste de permutação. E sem controle da coleta, classificação supervisionada é inviável sem comprometer a integridade. O próximo passo natural é uma campanha de coleta estruturada para viabilizar o ciclo completo do sistema inteligente.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0D9488">
              <a:alpha val="14000"/>
            </a:srgbClr>
          </a:solidFill>
          <a:ln w="12700">
            <a:solidFill>
              <a:srgbClr val="0D948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SISTEMAS INTELIGENTES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NILM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Edge-to-Server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Baixo Custo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 Avaliação Não Supervisionada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Ambiente Residencial Real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Miguel Oliveira de Moraes e Silva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69080" cy="1554480"/>
          </a:xfrm>
          <a:prstGeom prst="roundRect">
            <a:avLst>
              <a:gd name="adj" fmla="val 7647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58368" y="13624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08760" y="1399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180136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do NILM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mede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de pesquisa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4069080" cy="1554480"/>
          </a:xfrm>
          <a:prstGeom prst="roundRect">
            <a:avLst>
              <a:gd name="adj" fmla="val 7647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01768" y="13624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852160" y="1399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0" y="180136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Edge-to-Server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de borda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069080" cy="1554480"/>
          </a:xfrm>
          <a:prstGeom prst="roundRect">
            <a:avLst>
              <a:gd name="adj" fmla="val 7647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58368" y="31455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31821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58444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Diluição por baixa potência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nulidade dos harmônicos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4069080" cy="1554480"/>
          </a:xfrm>
          <a:prstGeom prst="roundRect">
            <a:avLst>
              <a:gd name="adj" fmla="val 7647"/>
            </a:avLst>
          </a:prstGeom>
          <a:solidFill>
            <a:srgbClr val="F5F3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001768" y="31455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852160" y="31821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52160" y="3584448"/>
            <a:ext cx="2834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e próximos passos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monitorar cargas individualmente?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8FAFC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Medidor único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medidor convencional mostra apenas o consumo total da instalação. Não revela qual aparelho gasta mais.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FEF2F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337560" y="107899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37560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cara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37560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 por equipamento (ILM)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084832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um sensor em cada aparelho é intrusivo, caro e complexo. Inviável na maioria das residências.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788920" cy="374904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217920" y="1078992"/>
            <a:ext cx="1463040" cy="274320"/>
          </a:xfrm>
          <a:prstGeom prst="roundRect">
            <a:avLst>
              <a:gd name="adj" fmla="val 2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217920" y="1078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2084832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ponto de medição. Algoritmos de IA analisam o sinal elétrico e estimam o consumo individual.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Sistema Mede?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medimos?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481328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49808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Elétrica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95628" y="1847088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252728" y="2121408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52728" y="21214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84248" y="22677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CT + tensão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595628" y="2807208"/>
            <a:ext cx="0" cy="2560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49808" y="30632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30632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Elétrico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41248" y="3410712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1595628" y="3410712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350008" y="3410712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20624" y="3666744"/>
            <a:ext cx="749808" cy="512064"/>
          </a:xfrm>
          <a:prstGeom prst="roundRect">
            <a:avLst>
              <a:gd name="adj" fmla="val 10714"/>
            </a:avLst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20624" y="3666744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1500W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207008" y="3666744"/>
            <a:ext cx="749808" cy="512064"/>
          </a:xfrm>
          <a:prstGeom prst="roundRect">
            <a:avLst>
              <a:gd name="adj" fmla="val 10714"/>
            </a:avLst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07008" y="3666744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Geladeira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93392" y="3666744"/>
            <a:ext cx="749808" cy="512064"/>
          </a:xfrm>
          <a:prstGeom prst="roundRect">
            <a:avLst>
              <a:gd name="adj" fmla="val 10714"/>
            </a:avLst>
          </a:prstGeom>
          <a:solidFill>
            <a:srgbClr val="E2E8F0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993392" y="3666744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Ar-cond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427939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sensor, no ramal de entrada, detecta o efeito de todos os aparelhos ao mesmo tempo.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63240" y="91440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20040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evento?</a:t>
            </a:r>
            <a:endParaRPr lang="en-US" sz="130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3063240" y="1389888"/>
          <a:ext cx="2834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5029200" y="1828800"/>
            <a:ext cx="804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ΔP: salto 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 ativa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200400" y="34290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 aparelho liga, a potência total sobe em degrau. </a:t>
            </a: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degrau é o evento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detectado pelo algoritmo.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3200400" y="413308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= quanto subiu a potência ativa.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ΔQ = quanto subiu a potência reativa.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914400"/>
            <a:ext cx="2788920" cy="3931920"/>
          </a:xfrm>
          <a:prstGeom prst="roundRect">
            <a:avLst>
              <a:gd name="adj" fmla="val 3934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172200" y="10058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distinguimos?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537960" y="4069080"/>
            <a:ext cx="21031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6537960" y="1508760"/>
            <a:ext cx="0" cy="256032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1"/>
          <p:cNvSpPr/>
          <p:nvPr/>
        </p:nvSpPr>
        <p:spPr>
          <a:xfrm>
            <a:off x="6537960" y="412394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(Potência Ativa) →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062472" y="1600200"/>
            <a:ext cx="475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ΔQ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(Reativa)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7816291" y="3443630"/>
            <a:ext cx="640080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7816291" y="344363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Chuveiro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9168" y="1984248"/>
            <a:ext cx="640080" cy="5669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7059168" y="198424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449263" y="3520440"/>
            <a:ext cx="640080" cy="56692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6449263" y="352044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153912" y="4206240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aparelho ocupa uma posição única. O K-means agrupa eventos com posições parecidas.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60320"/>
            <a:ext cx="3474720" cy="347472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Central do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874520"/>
          </a:xfrm>
          <a:prstGeom prst="roundRect">
            <a:avLst>
              <a:gd name="adj" fmla="val 8780"/>
            </a:avLst>
          </a:prstGeom>
          <a:solidFill>
            <a:srgbClr val="0891B2">
              <a:alpha val="16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possível inferir sobre o consumo residencial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qualquer controle sobre as cargas ligadas?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da coleta neste trabalho: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passiva e contínua em residência real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protocolo de acionamento controlado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anotação de qual aparelho foi ligado e quando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ground truth externo → apenas métricas internas (silhueta)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Sistema — Edge-to-Server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31920" cy="3794760"/>
          </a:xfrm>
          <a:prstGeom prst="roundRect">
            <a:avLst>
              <a:gd name="adj" fmla="val 3614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78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 (Embarcado)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 — sensor de corrente (núcleo dividido)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ZMPT101B standalone — sensor de tensão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STM32H743 — ADC 16-bit + DSP dedicado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Wi-Fi + MQTT (somente comunicação)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local: ΔP, ΔQ, DHT, harmônicas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97680" y="2834640"/>
            <a:ext cx="6858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4251960" y="242316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JSON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0" y="960120"/>
            <a:ext cx="3749040" cy="3794760"/>
          </a:xfrm>
          <a:prstGeom prst="roundRect">
            <a:avLst>
              <a:gd name="adj" fmla="val 3659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0515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0789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 (Nuvem / Local)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166360" y="1554480"/>
            <a:ext cx="3474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Mosquitto — recebe mensagens MQTT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mqtt_ingest.py — persiste em CSV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eventos (princípio de Hart)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+ silhueta — agrupamento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física dos clusters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 de Borda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ESP32 sozinho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ADC2 incompatível com Wi-Fi ativo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severo na amostragem acima de 5 kHz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dispara em amostragem contínua intensa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97764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983480" y="105156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Arquitetura Híbrida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46304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STM32H743 — aquisição dedicada (DSP 16-bit)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exclusivo para Wi-Fi + MQTT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a 460 800 baud entre os dois chips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15968" y="1417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8503920" cy="192024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Sensoriamento de Tensão — ZMPT101B standalone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comerciais ZMPT101B introduziam distorção harmônica e defasagem angular no sinal medido.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componente isolado (standalone) com circuito condicionador passivo e customizado, mais correção analítica da defasagem por deslocamento do vetor de corrente em relação ao de tensão.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IA — Desagregação Não Supervisionada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68680" y="98755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68680" y="987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Eventos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4048" y="2377440"/>
            <a:ext cx="18470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móvel. Degrau de potência &gt; 50 W sustentado por N amostras consecutivas. Princípio de Hart (1992).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1720" y="3182112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044952" y="98755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044952" y="987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50592" y="16002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542032" y="16916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Extração de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60320" y="2377440"/>
            <a:ext cx="18470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e ΔQ por evento. Opcionalmente: THD_V, THD_I e harmônicas dominantes (pós-menos-pré).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07992" y="3182112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221224" y="98755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221224" y="987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626864" y="16002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718304" y="16916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+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Silhueta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36592" y="2377440"/>
            <a:ext cx="18470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no espaço ΔP × ΔQ. K ótimo selecionado automaticamente pela maximização do coeficiente de silhueta.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84264" y="3182112"/>
            <a:ext cx="1188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397496" y="98755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397496" y="9875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803136" y="1600200"/>
            <a:ext cx="2057400" cy="32004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894576" y="1691640"/>
            <a:ext cx="1874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Interpretação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Física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12864" y="2377440"/>
            <a:ext cx="18470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associados a aparelhos por plausibilidade: magnitude ΔP, sinal ΔQ. Grupos ambíguos → 'desconhecido'.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1 — Diluição por Eventos de Baixa Potência</a:t>
            </a:r>
            <a:endParaRPr lang="en-US" sz="2200" dirty="0"/>
          </a:p>
        </p:txBody>
      </p:sp>
      <p:pic>
        <p:nvPicPr>
          <p:cNvPr id="3" name="Image 0" descr="/mnt/user-data/uploads/clusters_1d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68680"/>
            <a:ext cx="5303520" cy="2514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868680"/>
            <a:ext cx="3017520" cy="1170432"/>
          </a:xfrm>
          <a:prstGeom prst="roundRect">
            <a:avLst>
              <a:gd name="adj" fmla="val 9375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8978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dia · 727 eventos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97880" y="1188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K=10  ·  silhueta 0,44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97880" y="1554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Sobre-segmentação — estrutura aparente mas frágil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60720" y="2121408"/>
            <a:ext cx="3017520" cy="1170432"/>
          </a:xfrm>
          <a:prstGeom prst="roundRect">
            <a:avLst>
              <a:gd name="adj" fmla="val 9375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897880" y="2167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dias · 1270 eventos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24231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K=3  ·  silhueta 0,74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897880" y="2788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colapsou: massa de baixa potência domina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3520440"/>
            <a:ext cx="8503920" cy="1234440"/>
          </a:xfrm>
          <a:prstGeom prst="roundRect">
            <a:avLst>
              <a:gd name="adj" fmla="val 8889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457200" y="3584448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Mecanismo: Diluição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93192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~85% dos eventos são degraus |ΔP| &lt; 150 W — gerados pelo compressor inverter e ruído de medição. Conforme a coleta avança (361 → 1101 eventos de baixa potência), eles dominam o espaço de características e o critério de silhueta passa a favorecer o agrupamento grosseiro. Apenas as cargas de maior potência permanecem separáveis de forma estável.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2 — Teste de Nulidade dos Harmônicos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20040" y="91440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914400"/>
            <a:ext cx="3337560" cy="3383280"/>
          </a:xfrm>
          <a:prstGeom prst="roundRect">
            <a:avLst>
              <a:gd name="adj" fmla="val 4110"/>
            </a:avLst>
          </a:prstGeom>
          <a:solidFill>
            <a:srgbClr val="FEF2F2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623560" y="1005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nulo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23560" y="1444752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(0,139) ≈ embaralhado (0,122)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nenhuma informação discriminativa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2176272"/>
            <a:ext cx="2743200" cy="0"/>
          </a:xfrm>
          <a:prstGeom prst="line">
            <a:avLst/>
          </a:prstGeom>
          <a:noFill/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623560" y="22402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harmônicos não ajudam?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23560" y="2633472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Harmônico absoluto reflete fundo da residência, não a carga que chaveou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dos eventos é de baixa potência → sinal harmônico pouco confiável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SCT-013 e ZMPT101B têm resposta limitada em alta frequência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8503920" cy="1207008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38912" y="1298448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38912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5568" y="1033272"/>
            <a:ext cx="7571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de baixo custo é viável — com decisões de engenharia precisas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15568" y="1435608"/>
            <a:ext cx="7571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separação STM32H743 (DSP) + ESP32 (comunicação) resolve o conflito de jitter. O ZMPT101B standalone garante sinal de tensão limpo. O sistema coleta ΔP, ΔQ e harmônicos de forma confiável.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8503920" cy="1207008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8912" y="2624328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38912" y="26243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15568" y="2359152"/>
            <a:ext cx="7571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tem limite natural em ambiente não controlado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15568" y="2761488"/>
            <a:ext cx="7571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 dia de dados resolve K=10 clusters (silhueta 0,44). Com 2 dias colapsa para K=3. Eventos de baixa potência acumulados dominam o espaço de características. Só cargas de alta potência permanecem separáveis de forma estável.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611880"/>
            <a:ext cx="8503920" cy="1207008"/>
          </a:xfrm>
          <a:prstGeom prst="roundRect">
            <a:avLst>
              <a:gd name="adj" fmla="val 9091"/>
            </a:avLst>
          </a:prstGeom>
          <a:solidFill>
            <a:srgbClr val="FFFBEB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38912" y="3950208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38912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5568" y="3685032"/>
            <a:ext cx="7571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ausência de controle da coleta é a barreira estrutural para IA supervisionada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15568" y="4087368"/>
            <a:ext cx="7571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ground truth confiável, classificadores (KNN, SVM, Random Forest) não podem ser avaliados com integridade científica. Essa não é uma falha do método — é a condição real do NILM em campo e o principal direcionamento para trabalho futuro.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926080"/>
            <a:ext cx="3840480" cy="384048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786384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embarcado híbrido STM32 + ESP32 coleta ΔP, ΔQ e DHT sem jitter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identifica assinaturas, mas colapsa com acúmulo de eventos de baixa potência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Harmônicos não adicionam informação discriminativa (teste de nulidade confirmado)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controle da coleta, classificação supervisionada é inviável com integridade científica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0292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566928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coleta estruturado — acionar cargas individualmente e anotar eventos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 rotulagem confiável → treinar KNN, SVM, Random Forest com F1-macro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eventos de baixa potência para melhorar a resolução do K-means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 condicionamento harmônico para validar os harmônicos como característica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2417</Words>
  <Application>Microsoft Office PowerPoint</Application>
  <PresentationFormat>Apresentação na tela (16:9)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NILM Edge-to-Server de Baixo Custo</dc:title>
  <dc:subject>PptxGenJS Presentation</dc:subject>
  <dc:creator>PptxGenJS</dc:creator>
  <cp:lastModifiedBy>Carlos Miguel</cp:lastModifiedBy>
  <cp:revision>2</cp:revision>
  <dcterms:created xsi:type="dcterms:W3CDTF">2026-06-17T15:21:04Z</dcterms:created>
  <dcterms:modified xsi:type="dcterms:W3CDTF">2026-06-17T15:57:27Z</dcterms:modified>
</cp:coreProperties>
</file>